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be0b501f2144ab" /><Relationship Type="http://schemas.openxmlformats.org/officeDocument/2006/relationships/extended-properties" Target="/docProps/app.xml" Id="R5600ee48743d4fae" /><Relationship Type="http://schemas.openxmlformats.org/officeDocument/2006/relationships/officeDocument" Target="/ppt/presentation.xml" Id="Reece7ba4bd85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c63683d360457c"/>
  </p:sldMasterIdLst>
  <p:notesMasterIdLst>
    <p:notesMasterId xmlns:r="http://schemas.openxmlformats.org/officeDocument/2006/relationships" r:id="R7cd7e6bda94b4fee"/>
  </p:notesMasterIdLst>
  <p:sldIdLst>
    <p:sldId xmlns:r="http://schemas.openxmlformats.org/officeDocument/2006/relationships" id="256" r:id="R6384cd3d82ae46ba"/>
    <p:sldId xmlns:r="http://schemas.openxmlformats.org/officeDocument/2006/relationships" id="257" r:id="R2d10add7f1d547ea"/>
    <p:sldId xmlns:r="http://schemas.openxmlformats.org/officeDocument/2006/relationships" id="258" r:id="Rfa7372d13e3148d3"/>
    <p:sldId xmlns:r="http://schemas.openxmlformats.org/officeDocument/2006/relationships" id="259" r:id="R516784a90de74e70"/>
    <p:sldId xmlns:r="http://schemas.openxmlformats.org/officeDocument/2006/relationships" id="260" r:id="R267e017cda0e4a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14c4f5dae44cad" /><Relationship Type="http://schemas.openxmlformats.org/officeDocument/2006/relationships/slideMaster" Target="/ppt/slideMasters/slideMaster1.xml" Id="R17c63683d360457c" /><Relationship Type="http://schemas.openxmlformats.org/officeDocument/2006/relationships/notesMaster" Target="/ppt/notesMasters/notesMaster1.xml" Id="R7cd7e6bda94b4fee" /><Relationship Type="http://schemas.openxmlformats.org/officeDocument/2006/relationships/presProps" Target="/ppt/presProps.xml" Id="Rdd746153f29047bd" /><Relationship Type="http://schemas.openxmlformats.org/officeDocument/2006/relationships/tableStyles" Target="/ppt/tableStyles.xml" Id="Ra4dbf8051a2c47bd" /><Relationship Type="http://schemas.openxmlformats.org/officeDocument/2006/relationships/slide" Target="/ppt/slides/slide1.xml" Id="R6384cd3d82ae46ba" /><Relationship Type="http://schemas.openxmlformats.org/officeDocument/2006/relationships/slide" Target="/ppt/slides/slide2.xml" Id="R2d10add7f1d547ea" /><Relationship Type="http://schemas.openxmlformats.org/officeDocument/2006/relationships/slide" Target="/ppt/slides/slide3.xml" Id="Rfa7372d13e3148d3" /><Relationship Type="http://schemas.openxmlformats.org/officeDocument/2006/relationships/slide" Target="/ppt/slides/slide4.xml" Id="R516784a90de74e70" /><Relationship Type="http://schemas.openxmlformats.org/officeDocument/2006/relationships/slide" Target="/ppt/slides/slide5.xml" Id="R267e017cda0e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52bb3e22be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3d83b1027490e" /><Relationship Type="http://schemas.openxmlformats.org/officeDocument/2006/relationships/notesMaster" Target="/ppt/notesMasters/notesMaster1.xml" Id="R84a0a324441c4a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ff6e93ce014ec7" /><Relationship Type="http://schemas.openxmlformats.org/officeDocument/2006/relationships/notesMaster" Target="/ppt/notesMasters/notesMaster1.xml" Id="R5cdf42b08981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f30436c1cd4da0" /><Relationship Type="http://schemas.openxmlformats.org/officeDocument/2006/relationships/notesMaster" Target="/ppt/notesMasters/notesMaster1.xml" Id="R3a75921125e44b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90c6d3074e47b8" /><Relationship Type="http://schemas.openxmlformats.org/officeDocument/2006/relationships/notesMaster" Target="/ppt/notesMasters/notesMaster1.xml" Id="Rd00ac3f666e245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abcd620b404546" /><Relationship Type="http://schemas.openxmlformats.org/officeDocument/2006/relationships/notesMaster" Target="/ppt/notesMasters/notesMaster1.xml" Id="Raf7652f10bc943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本資料の目的は、初期投資を抑えて商品別・月別MRRを把握する導入案について、経営判断をいただくことです。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株式会社Dirbato\ドキュメント\Samurai\samurai\docs\contracts\Stripe_CSV_Salesforce投入_見積書_ドラフト.docx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株式会社Dirbato\ドキュメント\Samurai\samurai\docs\contracts\Stripe_CSV_Salesforce投入_業務委託契約書_ドラフト.docx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提案の中核は段階導入です。初期は月1回の手動運用で、重複防止と照合を優先します。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株式会社Dirbato\ドキュメント\Samurai\samurai\docs\contracts\Stripe_CSV_Salesforce投入_見積書_ドラフト.docx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株式会社Dirbato\ドキュメント\Samurai\samurai\docs\contracts\Stripe_CSV_Salesforce投入_業務委託契約書_ドラフト.docx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毎月同じ手順でCSVを取り込み、成功・エラーCSVを保存します。曖昧な名寄せや金額不一致は自動反映しません。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株式会社Dirbato\ドキュメント\Samurai\samurai\docs\contracts\Stripe_CSV_Salesforce投入_見積書_ドラフト.docx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株式会社Dirbato\ドキュメント\Samurai\samurai\docs\contracts\Stripe_CSV_Salesforce投入_業務委託契約書_ドラフト.docx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費用内訳は設定6時間、Excel8時間、Data Loader・手順書6時間、Sandbox試験8時間です。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株式会社Dirbato\ドキュメント\Samurai\samurai\docs\contracts\Stripe_CSV_Salesforce投入_見積書_ドラフト.docx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株式会社Dirbato\ドキュメント\Samurai\samurai\docs\contracts\Stripe_CSV_Salesforce投入_業務委託契約書_ドラフト.docx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経営判断としては初期導入への着手承認をお願いします。高リスク3点は実装前に確認し、追加費用が発生する場合は事前に提示します。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株式会社Dirbato\ドキュメント\Samurai\samurai\docs\contracts\Stripe_CSV_Salesforce投入_見積書_ドラフト.docx</a:t>
            </a:r>
          </a:p>
          <a:p xmlns:a="http://schemas.openxmlformats.org/drawingml/2006/main">
            <a:r>
              <a:t>- C:\Users\ShuKawanami(川波嵩)\OneDrive - 株式会社Dirbato\ドキュメント\Samurai\samurai\docs\contracts\Stripe_CSV_Salesforce投入_業務委託契約書_ドラフト.docx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0e9ed5fc74e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51788d9f24ba6" /><Relationship Type="http://schemas.openxmlformats.org/officeDocument/2006/relationships/slideLayout" Target="/ppt/slideLayouts/slideLayout1.xml" Id="R35b015c23e234e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b015c23e234e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9bce874484bce" /><Relationship Type="http://schemas.openxmlformats.org/officeDocument/2006/relationships/notesSlide" Target="/ppt/notesSlides/notesSlide1.xml" Id="Re4ccc985adde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283dd0bd44e5a" /><Relationship Type="http://schemas.openxmlformats.org/officeDocument/2006/relationships/notesSlide" Target="/ppt/notesSlides/notesSlide2.xml" Id="R3fb420c2aeaa46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a04efadb8485d" /><Relationship Type="http://schemas.openxmlformats.org/officeDocument/2006/relationships/notesSlide" Target="/ppt/notesSlides/notesSlide3.xml" Id="R98b3ad4c973446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7602f8e0a4963" /><Relationship Type="http://schemas.openxmlformats.org/officeDocument/2006/relationships/notesSlide" Target="/ppt/notesSlides/notesSlide4.xml" Id="R8a1a323079a044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2d6e545f447bd" /><Relationship Type="http://schemas.openxmlformats.org/officeDocument/2006/relationships/notesSlide" Target="/ppt/notesSlides/notesSlide5.xml" Id="R02b0b06a539249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D9E4150D-25DC-4E49-B4C1-887BC4C3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0"/>
            <a:ext cx="434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bar">
            <a:extLst xmlns:a="http://schemas.openxmlformats.org/drawingml/2006/main">
              <a:ext uri="{FF2B5EF4-FFF2-40B4-BE49-F238E27FC236}">
                <a16:creationId xmlns:a16="http://schemas.microsoft.com/office/drawing/2014/main" id="{6DC72B73-C25D-4104-90EF-1DAA2FA7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C55863C9-AAE8-4C2F-A4AA-2182C5B6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CEOご説明資料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F96050A-FA4A-4C6C-86F1-D65A5A8E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Stripe請求データを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SalesforceでMRR管理へ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84690C9-D215-4A12-91F6-80A359BA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月1回のCSV運用から始め、必要性を確認して自動化する段階導入</a:t>
            </a:r>
          </a:p>
        </p:txBody>
      </p:sp>
      <p:sp>
        <p:nvSpPr>
          <p:cNvPr id="6" name="client">
            <a:extLst xmlns:a="http://schemas.openxmlformats.org/drawingml/2006/main">
              <a:ext uri="{FF2B5EF4-FFF2-40B4-BE49-F238E27FC236}">
                <a16:creationId xmlns:a16="http://schemas.microsoft.com/office/drawing/2014/main" id="{9E52E215-C38F-48DD-ABB8-E19BBB9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株式会社SAMURAI ARCHITECTS</a:t>
            </a:r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AB987854-01CB-4419-8771-5F26CCCE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2026年8月24日</a:t>
            </a:r>
          </a:p>
        </p:txBody>
      </p:sp>
      <p:sp>
        <p:nvSpPr>
          <p:cNvPr id="8" name="hero-number">
            <a:extLst xmlns:a="http://schemas.openxmlformats.org/drawingml/2006/main">
              <a:ext uri="{FF2B5EF4-FFF2-40B4-BE49-F238E27FC236}">
                <a16:creationId xmlns:a16="http://schemas.microsoft.com/office/drawing/2014/main" id="{DEEC2098-E061-4B61-B123-C204B48D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154,000円</a:t>
            </a:r>
          </a:p>
        </p:txBody>
      </p:sp>
      <p:sp>
        <p:nvSpPr>
          <p:cNvPr id="9" name="hero-label">
            <a:extLst xmlns:a="http://schemas.openxmlformats.org/drawingml/2006/main">
              <a:ext uri="{FF2B5EF4-FFF2-40B4-BE49-F238E27FC236}">
                <a16:creationId xmlns:a16="http://schemas.microsoft.com/office/drawing/2014/main" id="{58D66FD9-0AAB-4E04-B023-3CBAB043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税込・想定28時間</a:t>
            </a:r>
          </a:p>
        </p:txBody>
      </p:sp>
      <p:sp>
        <p:nvSpPr>
          <p:cNvPr id="10" name="hero-period">
            <a:extLst xmlns:a="http://schemas.openxmlformats.org/drawingml/2006/main">
              <a:ext uri="{FF2B5EF4-FFF2-40B4-BE49-F238E27FC236}">
                <a16:creationId xmlns:a16="http://schemas.microsoft.com/office/drawing/2014/main" id="{E49FDFEE-D807-48B4-AABA-43E27DD7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8/24 → 9/30</a:t>
            </a:r>
          </a:p>
        </p:txBody>
      </p:sp>
      <p:sp>
        <p:nvSpPr>
          <p:cNvPr id="11" name="hero-label2">
            <a:extLst xmlns:a="http://schemas.openxmlformats.org/drawingml/2006/main">
              <a:ext uri="{FF2B5EF4-FFF2-40B4-BE49-F238E27FC236}">
                <a16:creationId xmlns:a16="http://schemas.microsoft.com/office/drawing/2014/main" id="{4FEC7CD1-51E0-4CC0-8369-AABF5F14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05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検証を含む導入期間</a:t>
            </a:r>
          </a:p>
        </p:txBody>
      </p:sp>
    </p:spTree>
    <p:extLst>
      <p:ext uri="{BB962C8B-B14F-4D97-AF65-F5344CB8AC3E}">
        <p14:creationId xmlns:p14="http://schemas.microsoft.com/office/powerpoint/2010/main" val="1009341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B5610B6A-85F4-45D0-8B76-A4A59C84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結論：まず月1回のCSV運用で、MRR把握を実現します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E100117-7F02-48E7-B6BE-833E685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214AF04A-EDC4-4EA8-84FA-3D53429E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常時API連携を先に作らず、実データで必要性を確認してから拡張します。</a:t>
            </a:r>
          </a:p>
        </p:txBody>
      </p:sp>
      <p:sp>
        <p:nvSpPr>
          <p:cNvPr id="4" name="pillar-0">
            <a:extLst xmlns:a="http://schemas.openxmlformats.org/drawingml/2006/main">
              <a:ext uri="{FF2B5EF4-FFF2-40B4-BE49-F238E27FC236}">
                <a16:creationId xmlns:a16="http://schemas.microsoft.com/office/drawing/2014/main" id="{0535A32B-5F6D-4D05-B9FB-C91C030E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8AB97C30-F7E6-4923-876B-D9F38458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5A018834-0170-48D6-9B02-8F877159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早く始める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E49235BA-6852-4E7E-970F-926D71EC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8/24～9/30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約5週間で整備・検証</a:t>
            </a:r>
          </a:p>
        </p:txBody>
      </p:sp>
      <p:sp>
        <p:nvSpPr>
          <p:cNvPr id="8" name="pillar-1">
            <a:extLst xmlns:a="http://schemas.openxmlformats.org/drawingml/2006/main">
              <a:ext uri="{FF2B5EF4-FFF2-40B4-BE49-F238E27FC236}">
                <a16:creationId xmlns:a16="http://schemas.microsoft.com/office/drawing/2014/main" id="{F6F66046-71AD-4A80-A6F6-D594687D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-1">
            <a:extLst xmlns:a="http://schemas.openxmlformats.org/drawingml/2006/main">
              <a:ext uri="{FF2B5EF4-FFF2-40B4-BE49-F238E27FC236}">
                <a16:creationId xmlns:a16="http://schemas.microsoft.com/office/drawing/2014/main" id="{DA615FA5-6B4B-4E60-9F82-D0B1934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955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FBCDC81A-425C-44D8-B0A5-9811CF4C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432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安全に取り込む</a:t>
            </a:r>
          </a:p>
        </p:txBody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6B498D5D-8B47-4CFA-858C-999849A0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62375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Stripe IDでUpsert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重複と誤更新を防止</a:t>
            </a:r>
          </a:p>
        </p:txBody>
      </p:sp>
      <p:sp>
        <p:nvSpPr>
          <p:cNvPr id="12" name="pillar-2">
            <a:extLst xmlns:a="http://schemas.openxmlformats.org/drawingml/2006/main">
              <a:ext uri="{FF2B5EF4-FFF2-40B4-BE49-F238E27FC236}">
                <a16:creationId xmlns:a16="http://schemas.microsoft.com/office/drawing/2014/main" id="{BFA117FB-32BA-41D2-ACF3-2FCDB503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um-2">
            <a:extLst xmlns:a="http://schemas.openxmlformats.org/drawingml/2006/main">
              <a:ext uri="{FF2B5EF4-FFF2-40B4-BE49-F238E27FC236}">
                <a16:creationId xmlns:a16="http://schemas.microsoft.com/office/drawing/2014/main" id="{0C8D29B4-BE3D-42B5-BDB9-4832CE6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955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head-2">
            <a:extLst xmlns:a="http://schemas.openxmlformats.org/drawingml/2006/main">
              <a:ext uri="{FF2B5EF4-FFF2-40B4-BE49-F238E27FC236}">
                <a16:creationId xmlns:a16="http://schemas.microsoft.com/office/drawing/2014/main" id="{F0C002E1-3D17-4F22-BC02-DB169045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必要な分だけ拡張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E9D64124-A13B-4145-A129-6FA39926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例外が多い場合のみ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API／Webhookを追加</a:t>
            </a:r>
          </a:p>
        </p:txBody>
      </p:sp>
      <p:sp>
        <p:nvSpPr>
          <p:cNvPr id="16" name="outcome">
            <a:extLst xmlns:a="http://schemas.openxmlformats.org/drawingml/2006/main">
              <a:ext uri="{FF2B5EF4-FFF2-40B4-BE49-F238E27FC236}">
                <a16:creationId xmlns:a16="http://schemas.microsoft.com/office/drawing/2014/main" id="{60775721-8F57-4627-8568-791490FE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0801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utcome-text">
            <a:extLst xmlns:a="http://schemas.openxmlformats.org/drawingml/2006/main">
              <a:ext uri="{FF2B5EF4-FFF2-40B4-BE49-F238E27FC236}">
                <a16:creationId xmlns:a16="http://schemas.microsoft.com/office/drawing/2014/main" id="{431EEB6F-5A98-4308-896C-27E78923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到達点：Stripeと請求情報を合わせた「商品別・月別MRR」をSalesforceで確認できる</a:t>
            </a:r>
          </a:p>
        </p:txBody>
      </p:sp>
    </p:spTree>
    <p:extLst>
      <p:ext uri="{BB962C8B-B14F-4D97-AF65-F5344CB8AC3E}">
        <p14:creationId xmlns:p14="http://schemas.microsoft.com/office/powerpoint/2010/main" val="1169432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">
            <a:extLst xmlns:a="http://schemas.openxmlformats.org/drawingml/2006/main">
              <a:ext uri="{FF2B5EF4-FFF2-40B4-BE49-F238E27FC236}">
                <a16:creationId xmlns:a16="http://schemas.microsoft.com/office/drawing/2014/main" id="{81E05014-DD78-4B9A-8D58-C5F15182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運用は4ステップ。Salesforceを経営管理の起点にします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3FBE7A4-980E-42AE-B899-4FF6E575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3389AD7E-1782-434B-954A-2489C5D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Stripeは決済状態、Salesforceは契約・請求・MRRを管理します。</a:t>
            </a:r>
          </a:p>
        </p:txBody>
      </p:sp>
      <p:sp>
        <p:nvSpPr>
          <p:cNvPr id="4" name="connector-0">
            <a:extLst xmlns:a="http://schemas.openxmlformats.org/drawingml/2006/main">
              <a:ext uri="{FF2B5EF4-FFF2-40B4-BE49-F238E27FC236}">
                <a16:creationId xmlns:a16="http://schemas.microsoft.com/office/drawing/2014/main" id="{56889749-9F23-4F16-89DF-7B8F7980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0">
            <a:extLst xmlns:a="http://schemas.openxmlformats.org/drawingml/2006/main">
              <a:ext uri="{FF2B5EF4-FFF2-40B4-BE49-F238E27FC236}">
                <a16:creationId xmlns:a16="http://schemas.microsoft.com/office/drawing/2014/main" id="{7A25C9D0-D160-4D5B-8BBE-6CAE914F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num-0">
            <a:extLst xmlns:a="http://schemas.openxmlformats.org/drawingml/2006/main">
              <a:ext uri="{FF2B5EF4-FFF2-40B4-BE49-F238E27FC236}">
                <a16:creationId xmlns:a16="http://schemas.microsoft.com/office/drawing/2014/main" id="{255AA969-DD92-46A1-8712-55E8A624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tepbadge-0">
            <a:extLst xmlns:a="http://schemas.openxmlformats.org/drawingml/2006/main">
              <a:ext uri="{FF2B5EF4-FFF2-40B4-BE49-F238E27FC236}">
                <a16:creationId xmlns:a16="http://schemas.microsoft.com/office/drawing/2014/main" id="{A43ABD95-CFC7-4AE5-AE4C-29172645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numtop-0">
            <a:extLst xmlns:a="http://schemas.openxmlformats.org/drawingml/2006/main">
              <a:ext uri="{FF2B5EF4-FFF2-40B4-BE49-F238E27FC236}">
                <a16:creationId xmlns:a16="http://schemas.microsoft.com/office/drawing/2014/main" id="{7FD8A738-7C3D-4BCA-8A28-FE0D4021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steph-0">
            <a:extLst xmlns:a="http://schemas.openxmlformats.org/drawingml/2006/main">
              <a:ext uri="{FF2B5EF4-FFF2-40B4-BE49-F238E27FC236}">
                <a16:creationId xmlns:a16="http://schemas.microsoft.com/office/drawing/2014/main" id="{03817E5A-7217-47CD-8819-2DE89027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Stripe CSV出力</a:t>
            </a:r>
          </a:p>
        </p:txBody>
      </p:sp>
      <p:sp>
        <p:nvSpPr>
          <p:cNvPr id="10" name="stepb-0">
            <a:extLst xmlns:a="http://schemas.openxmlformats.org/drawingml/2006/main">
              <a:ext uri="{FF2B5EF4-FFF2-40B4-BE49-F238E27FC236}">
                <a16:creationId xmlns:a16="http://schemas.microsoft.com/office/drawing/2014/main" id="{6A19CED4-882A-438B-A5D9-ECD9738A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顧客・契約・請求・決済</a:t>
            </a:r>
          </a:p>
        </p:txBody>
      </p:sp>
      <p:sp>
        <p:nvSpPr>
          <p:cNvPr id="11" name="connector-1">
            <a:extLst xmlns:a="http://schemas.openxmlformats.org/drawingml/2006/main">
              <a:ext uri="{FF2B5EF4-FFF2-40B4-BE49-F238E27FC236}">
                <a16:creationId xmlns:a16="http://schemas.microsoft.com/office/drawing/2014/main" id="{2B76BF8B-5D25-40D1-94AA-FA73764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05150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F63AF98E-0203-44DB-B7DB-A96C4643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num-1">
            <a:extLst xmlns:a="http://schemas.openxmlformats.org/drawingml/2006/main">
              <a:ext uri="{FF2B5EF4-FFF2-40B4-BE49-F238E27FC236}">
                <a16:creationId xmlns:a16="http://schemas.microsoft.com/office/drawing/2014/main" id="{0FAA908D-FDDF-4688-9531-F95A2141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stepbadge-1">
            <a:extLst xmlns:a="http://schemas.openxmlformats.org/drawingml/2006/main">
              <a:ext uri="{FF2B5EF4-FFF2-40B4-BE49-F238E27FC236}">
                <a16:creationId xmlns:a16="http://schemas.microsoft.com/office/drawing/2014/main" id="{4A84A7E8-E358-4BD0-A416-C1AC4133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numtop-1">
            <a:extLst xmlns:a="http://schemas.openxmlformats.org/drawingml/2006/main">
              <a:ext uri="{FF2B5EF4-FFF2-40B4-BE49-F238E27FC236}">
                <a16:creationId xmlns:a16="http://schemas.microsoft.com/office/drawing/2014/main" id="{D3CA6470-4F5C-41E8-859C-770A53AD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steph-1">
            <a:extLst xmlns:a="http://schemas.openxmlformats.org/drawingml/2006/main">
              <a:ext uri="{FF2B5EF4-FFF2-40B4-BE49-F238E27FC236}">
                <a16:creationId xmlns:a16="http://schemas.microsoft.com/office/drawing/2014/main" id="{3D84320A-13BF-491A-80C5-CAC0072E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Excel変換・検証</a:t>
            </a:r>
          </a:p>
        </p:txBody>
      </p:sp>
      <p:sp>
        <p:nvSpPr>
          <p:cNvPr id="17" name="stepb-1">
            <a:extLst xmlns:a="http://schemas.openxmlformats.org/drawingml/2006/main">
              <a:ext uri="{FF2B5EF4-FFF2-40B4-BE49-F238E27FC236}">
                <a16:creationId xmlns:a16="http://schemas.microsoft.com/office/drawing/2014/main" id="{8151433B-28BE-470F-A51D-E97A4A8B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商品・金額・例外を確認</a:t>
            </a:r>
          </a:p>
        </p:txBody>
      </p:sp>
      <p:sp>
        <p:nvSpPr>
          <p:cNvPr id="18" name="connector-2">
            <a:extLst xmlns:a="http://schemas.openxmlformats.org/drawingml/2006/main">
              <a:ext uri="{FF2B5EF4-FFF2-40B4-BE49-F238E27FC236}">
                <a16:creationId xmlns:a16="http://schemas.microsoft.com/office/drawing/2014/main" id="{44950AB9-4D41-427A-A4B7-9B3854B2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2">
            <a:extLst xmlns:a="http://schemas.openxmlformats.org/drawingml/2006/main">
              <a:ext uri="{FF2B5EF4-FFF2-40B4-BE49-F238E27FC236}">
                <a16:creationId xmlns:a16="http://schemas.microsoft.com/office/drawing/2014/main" id="{2DC3C265-8C1D-43D1-9138-FF333EF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381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num-2">
            <a:extLst xmlns:a="http://schemas.openxmlformats.org/drawingml/2006/main">
              <a:ext uri="{FF2B5EF4-FFF2-40B4-BE49-F238E27FC236}">
                <a16:creationId xmlns:a16="http://schemas.microsoft.com/office/drawing/2014/main" id="{6812086F-6C17-406D-9FD7-23109777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stepbadge-2">
            <a:extLst xmlns:a="http://schemas.openxmlformats.org/drawingml/2006/main">
              <a:ext uri="{FF2B5EF4-FFF2-40B4-BE49-F238E27FC236}">
                <a16:creationId xmlns:a16="http://schemas.microsoft.com/office/drawing/2014/main" id="{E47A1E69-9732-4B68-ACB6-38B943E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numtop-2">
            <a:extLst xmlns:a="http://schemas.openxmlformats.org/drawingml/2006/main">
              <a:ext uri="{FF2B5EF4-FFF2-40B4-BE49-F238E27FC236}">
                <a16:creationId xmlns:a16="http://schemas.microsoft.com/office/drawing/2014/main" id="{A5CD2EB5-A5B2-433C-AF25-AF085649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steph-2">
            <a:extLst xmlns:a="http://schemas.openxmlformats.org/drawingml/2006/main">
              <a:ext uri="{FF2B5EF4-FFF2-40B4-BE49-F238E27FC236}">
                <a16:creationId xmlns:a16="http://schemas.microsoft.com/office/drawing/2014/main" id="{45F2F61E-70E2-45D4-BCCB-5A4E04D6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Loader Upsert</a:t>
            </a:r>
          </a:p>
        </p:txBody>
      </p:sp>
      <p:sp>
        <p:nvSpPr>
          <p:cNvPr id="24" name="stepb-2">
            <a:extLst xmlns:a="http://schemas.openxmlformats.org/drawingml/2006/main">
              <a:ext uri="{FF2B5EF4-FFF2-40B4-BE49-F238E27FC236}">
                <a16:creationId xmlns:a16="http://schemas.microsoft.com/office/drawing/2014/main" id="{AA8A5D4D-505F-4506-8B48-11DFEA7C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外部IDで重複を防止</a:t>
            </a:r>
          </a:p>
        </p:txBody>
      </p:sp>
      <p:sp>
        <p:nvSpPr>
          <p:cNvPr id="25" name="step-3">
            <a:extLst xmlns:a="http://schemas.openxmlformats.org/drawingml/2006/main">
              <a:ext uri="{FF2B5EF4-FFF2-40B4-BE49-F238E27FC236}">
                <a16:creationId xmlns:a16="http://schemas.microsoft.com/office/drawing/2014/main" id="{3A608E69-B279-4D1F-9D43-3A9B467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381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epnum-3">
            <a:extLst xmlns:a="http://schemas.openxmlformats.org/drawingml/2006/main">
              <a:ext uri="{FF2B5EF4-FFF2-40B4-BE49-F238E27FC236}">
                <a16:creationId xmlns:a16="http://schemas.microsoft.com/office/drawing/2014/main" id="{EDBEA3E8-5CD1-4C8C-BE33-370E4F1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stepbadge-3">
            <a:extLst xmlns:a="http://schemas.openxmlformats.org/drawingml/2006/main">
              <a:ext uri="{FF2B5EF4-FFF2-40B4-BE49-F238E27FC236}">
                <a16:creationId xmlns:a16="http://schemas.microsoft.com/office/drawing/2014/main" id="{C4DC2A1D-CBCB-4D84-AC54-743231C6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epnumtop-3">
            <a:extLst xmlns:a="http://schemas.openxmlformats.org/drawingml/2006/main">
              <a:ext uri="{FF2B5EF4-FFF2-40B4-BE49-F238E27FC236}">
                <a16:creationId xmlns:a16="http://schemas.microsoft.com/office/drawing/2014/main" id="{AD964F81-9BAC-4F8D-9F06-CC48C171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steph-3">
            <a:extLst xmlns:a="http://schemas.openxmlformats.org/drawingml/2006/main">
              <a:ext uri="{FF2B5EF4-FFF2-40B4-BE49-F238E27FC236}">
                <a16:creationId xmlns:a16="http://schemas.microsoft.com/office/drawing/2014/main" id="{3BFC9911-AC76-492F-8055-301091E3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95625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Salesforce照合</a:t>
            </a:r>
          </a:p>
        </p:txBody>
      </p:sp>
      <p:sp>
        <p:nvSpPr>
          <p:cNvPr id="30" name="stepb-3">
            <a:extLst xmlns:a="http://schemas.openxmlformats.org/drawingml/2006/main">
              <a:ext uri="{FF2B5EF4-FFF2-40B4-BE49-F238E27FC236}">
                <a16:creationId xmlns:a16="http://schemas.microsoft.com/office/drawing/2014/main" id="{E36FE06F-BEE0-4214-936A-5ED20DD6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6237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件数・金額・MRRを確認</a:t>
            </a:r>
          </a:p>
        </p:txBody>
      </p:sp>
      <p:sp>
        <p:nvSpPr>
          <p:cNvPr id="31" name="scope-label">
            <a:extLst xmlns:a="http://schemas.openxmlformats.org/drawingml/2006/main">
              <a:ext uri="{FF2B5EF4-FFF2-40B4-BE49-F238E27FC236}">
                <a16:creationId xmlns:a16="http://schemas.microsoft.com/office/drawing/2014/main" id="{AA296D52-F778-4C10-936F-FB1732A7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初期対象外</a:t>
            </a:r>
          </a:p>
        </p:txBody>
      </p:sp>
      <p:sp>
        <p:nvSpPr>
          <p:cNvPr id="32" name="scope">
            <a:extLst xmlns:a="http://schemas.openxmlformats.org/drawingml/2006/main">
              <a:ext uri="{FF2B5EF4-FFF2-40B4-BE49-F238E27FC236}">
                <a16:creationId xmlns:a16="http://schemas.microsoft.com/office/drawing/2014/main" id="{F2702D4B-5F83-4939-A018-25EA9BC9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常時API連携 ／ Webhook ／ 決済履歴専用オブジェクト ／ Contact・Opportunityの自動作成</a:t>
            </a:r>
          </a:p>
        </p:txBody>
      </p:sp>
    </p:spTree>
    <p:extLst>
      <p:ext uri="{BB962C8B-B14F-4D97-AF65-F5344CB8AC3E}">
        <p14:creationId xmlns:p14="http://schemas.microsoft.com/office/powerpoint/2010/main" val="2950327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1437CC27-BCA0-4519-81FE-3B08CA6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投資は154,000円。28時間で設定・運用・検証まで含みます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F0B62AF-501D-4DA1-B0A8-A5142144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0B4603D-66ED-4649-8119-4F3380C2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追加開発は、実データで必要性が確認された場合のみ別途判断します。</a:t>
            </a:r>
          </a:p>
        </p:txBody>
      </p:sp>
      <p:sp>
        <p:nvSpPr>
          <p:cNvPr id="4" name="m-0">
            <a:extLst xmlns:a="http://schemas.openxmlformats.org/drawingml/2006/main">
              <a:ext uri="{FF2B5EF4-FFF2-40B4-BE49-F238E27FC236}">
                <a16:creationId xmlns:a16="http://schemas.microsoft.com/office/drawing/2014/main" id="{2808C79D-DA96-4084-ACC2-28464A1D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v-0">
            <a:extLst xmlns:a="http://schemas.openxmlformats.org/drawingml/2006/main">
              <a:ext uri="{FF2B5EF4-FFF2-40B4-BE49-F238E27FC236}">
                <a16:creationId xmlns:a16="http://schemas.microsoft.com/office/drawing/2014/main" id="{8A0BFEE3-CF9A-4D6A-B113-445EB7B0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154,000円</a:t>
            </a:r>
          </a:p>
        </p:txBody>
      </p:sp>
      <p:sp>
        <p:nvSpPr>
          <p:cNvPr id="6" name="ml-0">
            <a:extLst xmlns:a="http://schemas.openxmlformats.org/drawingml/2006/main">
              <a:ext uri="{FF2B5EF4-FFF2-40B4-BE49-F238E27FC236}">
                <a16:creationId xmlns:a16="http://schemas.microsoft.com/office/drawing/2014/main" id="{B25CE96C-E09B-4C64-ACB3-04E91BC0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税込総額</a:t>
            </a:r>
          </a:p>
        </p:txBody>
      </p:sp>
      <p:sp>
        <p:nvSpPr>
          <p:cNvPr id="7" name="m-1">
            <a:extLst xmlns:a="http://schemas.openxmlformats.org/drawingml/2006/main">
              <a:ext uri="{FF2B5EF4-FFF2-40B4-BE49-F238E27FC236}">
                <a16:creationId xmlns:a16="http://schemas.microsoft.com/office/drawing/2014/main" id="{F897E3F1-F6B0-4EFF-8366-2A0DD752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v-1">
            <a:extLst xmlns:a="http://schemas.openxmlformats.org/drawingml/2006/main">
              <a:ext uri="{FF2B5EF4-FFF2-40B4-BE49-F238E27FC236}">
                <a16:creationId xmlns:a16="http://schemas.microsoft.com/office/drawing/2014/main" id="{80149F44-A69B-4543-86DA-17014515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38375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28時間</a:t>
            </a:r>
          </a:p>
        </p:txBody>
      </p:sp>
      <p:sp>
        <p:nvSpPr>
          <p:cNvPr id="9" name="ml-1">
            <a:extLst xmlns:a="http://schemas.openxmlformats.org/drawingml/2006/main">
              <a:ext uri="{FF2B5EF4-FFF2-40B4-BE49-F238E27FC236}">
                <a16:creationId xmlns:a16="http://schemas.microsoft.com/office/drawing/2014/main" id="{029874F2-C93C-4B16-AFF6-693FA00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956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想定工数</a:t>
            </a:r>
          </a:p>
        </p:txBody>
      </p:sp>
      <p:sp>
        <p:nvSpPr>
          <p:cNvPr id="10" name="m-2">
            <a:extLst xmlns:a="http://schemas.openxmlformats.org/drawingml/2006/main">
              <a:ext uri="{FF2B5EF4-FFF2-40B4-BE49-F238E27FC236}">
                <a16:creationId xmlns:a16="http://schemas.microsoft.com/office/drawing/2014/main" id="{A5393C30-18C9-4DB8-BCD3-548226A7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v-2">
            <a:extLst xmlns:a="http://schemas.openxmlformats.org/drawingml/2006/main">
              <a:ext uri="{FF2B5EF4-FFF2-40B4-BE49-F238E27FC236}">
                <a16:creationId xmlns:a16="http://schemas.microsoft.com/office/drawing/2014/main" id="{D3B95B3C-2967-4440-A006-6183C77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約5週間</a:t>
            </a:r>
          </a:p>
        </p:txBody>
      </p:sp>
      <p:sp>
        <p:nvSpPr>
          <p:cNvPr id="12" name="ml-2">
            <a:extLst xmlns:a="http://schemas.openxmlformats.org/drawingml/2006/main">
              <a:ext uri="{FF2B5EF4-FFF2-40B4-BE49-F238E27FC236}">
                <a16:creationId xmlns:a16="http://schemas.microsoft.com/office/drawing/2014/main" id="{61B33184-FBED-4CC1-B8ED-332E5369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8/24～9/30</a:t>
            </a:r>
          </a:p>
        </p:txBody>
      </p:sp>
      <p:sp>
        <p:nvSpPr>
          <p:cNvPr id="13" name="work-0">
            <a:extLst xmlns:a="http://schemas.openxmlformats.org/drawingml/2006/main">
              <a:ext uri="{FF2B5EF4-FFF2-40B4-BE49-F238E27FC236}">
                <a16:creationId xmlns:a16="http://schemas.microsoft.com/office/drawing/2014/main" id="{EFBA487B-4850-4F8C-8D6A-E1C4371D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Salesforce設定</a:t>
            </a:r>
          </a:p>
        </p:txBody>
      </p:sp>
      <p:sp>
        <p:nvSpPr>
          <p:cNvPr id="14" name="barbg-0">
            <a:extLst xmlns:a="http://schemas.openxmlformats.org/drawingml/2006/main">
              <a:ext uri="{FF2B5EF4-FFF2-40B4-BE49-F238E27FC236}">
                <a16:creationId xmlns:a16="http://schemas.microsoft.com/office/drawing/2014/main" id="{DFFDC5BC-5F83-444F-BD5C-ABEB8724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r-0">
            <a:extLst xmlns:a="http://schemas.openxmlformats.org/drawingml/2006/main">
              <a:ext uri="{FF2B5EF4-FFF2-40B4-BE49-F238E27FC236}">
                <a16:creationId xmlns:a16="http://schemas.microsoft.com/office/drawing/2014/main" id="{B7B72670-B0E2-4D01-A2C3-E28D3022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our-0">
            <a:extLst xmlns:a="http://schemas.openxmlformats.org/drawingml/2006/main">
              <a:ext uri="{FF2B5EF4-FFF2-40B4-BE49-F238E27FC236}">
                <a16:creationId xmlns:a16="http://schemas.microsoft.com/office/drawing/2014/main" id="{095AB9F4-894F-49D4-8DE5-7F58C3F5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052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6h</a:t>
            </a:r>
          </a:p>
        </p:txBody>
      </p:sp>
      <p:sp>
        <p:nvSpPr>
          <p:cNvPr id="17" name="work-1">
            <a:extLst xmlns:a="http://schemas.openxmlformats.org/drawingml/2006/main">
              <a:ext uri="{FF2B5EF4-FFF2-40B4-BE49-F238E27FC236}">
                <a16:creationId xmlns:a16="http://schemas.microsoft.com/office/drawing/2014/main" id="{98E0CC1A-9316-4516-8C69-A9C102F9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Excelテンプレート</a:t>
            </a:r>
          </a:p>
        </p:txBody>
      </p:sp>
      <p:sp>
        <p:nvSpPr>
          <p:cNvPr id="18" name="barbg-1">
            <a:extLst xmlns:a="http://schemas.openxmlformats.org/drawingml/2006/main">
              <a:ext uri="{FF2B5EF4-FFF2-40B4-BE49-F238E27FC236}">
                <a16:creationId xmlns:a16="http://schemas.microsoft.com/office/drawing/2014/main" id="{44446B23-6966-4ADC-99F3-4B0873DD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r-1">
            <a:extLst xmlns:a="http://schemas.openxmlformats.org/drawingml/2006/main">
              <a:ext uri="{FF2B5EF4-FFF2-40B4-BE49-F238E27FC236}">
                <a16:creationId xmlns:a16="http://schemas.microsoft.com/office/drawing/2014/main" id="{B9A6FCAC-1CDF-42BD-B99F-24CF4AA4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our-1">
            <a:extLst xmlns:a="http://schemas.openxmlformats.org/drawingml/2006/main">
              <a:ext uri="{FF2B5EF4-FFF2-40B4-BE49-F238E27FC236}">
                <a16:creationId xmlns:a16="http://schemas.microsoft.com/office/drawing/2014/main" id="{B871745A-F98B-4464-BD9C-7D7711A8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81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8h</a:t>
            </a:r>
          </a:p>
        </p:txBody>
      </p:sp>
      <p:sp>
        <p:nvSpPr>
          <p:cNvPr id="21" name="work-2">
            <a:extLst xmlns:a="http://schemas.openxmlformats.org/drawingml/2006/main">
              <a:ext uri="{FF2B5EF4-FFF2-40B4-BE49-F238E27FC236}">
                <a16:creationId xmlns:a16="http://schemas.microsoft.com/office/drawing/2014/main" id="{B3DB1278-1D83-4066-8F89-169C2E0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Loader・手順書</a:t>
            </a:r>
          </a:p>
        </p:txBody>
      </p:sp>
      <p:sp>
        <p:nvSpPr>
          <p:cNvPr id="22" name="barbg-2">
            <a:extLst xmlns:a="http://schemas.openxmlformats.org/drawingml/2006/main">
              <a:ext uri="{FF2B5EF4-FFF2-40B4-BE49-F238E27FC236}">
                <a16:creationId xmlns:a16="http://schemas.microsoft.com/office/drawing/2014/main" id="{F253A276-2248-4E69-A7E9-7AF4C7F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r-2">
            <a:extLst xmlns:a="http://schemas.openxmlformats.org/drawingml/2006/main">
              <a:ext uri="{FF2B5EF4-FFF2-40B4-BE49-F238E27FC236}">
                <a16:creationId xmlns:a16="http://schemas.microsoft.com/office/drawing/2014/main" id="{208DE189-9122-4D72-BE01-7E895F27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our-2">
            <a:extLst xmlns:a="http://schemas.openxmlformats.org/drawingml/2006/main">
              <a:ext uri="{FF2B5EF4-FFF2-40B4-BE49-F238E27FC236}">
                <a16:creationId xmlns:a16="http://schemas.microsoft.com/office/drawing/2014/main" id="{B98076F0-9325-403C-AEA8-1A7CA6FE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6h</a:t>
            </a:r>
          </a:p>
        </p:txBody>
      </p:sp>
      <p:sp>
        <p:nvSpPr>
          <p:cNvPr id="25" name="work-3">
            <a:extLst xmlns:a="http://schemas.openxmlformats.org/drawingml/2006/main">
              <a:ext uri="{FF2B5EF4-FFF2-40B4-BE49-F238E27FC236}">
                <a16:creationId xmlns:a16="http://schemas.microsoft.com/office/drawing/2014/main" id="{0886C94E-B066-449A-8564-0CF1C5D0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Sandbox試験・照合</a:t>
            </a:r>
          </a:p>
        </p:txBody>
      </p:sp>
      <p:sp>
        <p:nvSpPr>
          <p:cNvPr id="26" name="barbg-3">
            <a:extLst xmlns:a="http://schemas.openxmlformats.org/drawingml/2006/main">
              <a:ext uri="{FF2B5EF4-FFF2-40B4-BE49-F238E27FC236}">
                <a16:creationId xmlns:a16="http://schemas.microsoft.com/office/drawing/2014/main" id="{E8E49D26-B83F-4401-A7E1-C21C3441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91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r-3">
            <a:extLst xmlns:a="http://schemas.openxmlformats.org/drawingml/2006/main">
              <a:ext uri="{FF2B5EF4-FFF2-40B4-BE49-F238E27FC236}">
                <a16:creationId xmlns:a16="http://schemas.microsoft.com/office/drawing/2014/main" id="{5556D9CF-F25D-4D84-8D6A-E449FB1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91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our-3">
            <a:extLst xmlns:a="http://schemas.openxmlformats.org/drawingml/2006/main">
              <a:ext uri="{FF2B5EF4-FFF2-40B4-BE49-F238E27FC236}">
                <a16:creationId xmlns:a16="http://schemas.microsoft.com/office/drawing/2014/main" id="{430BE57B-6665-4FEA-BFA4-B139C34E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340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8h</a:t>
            </a:r>
          </a:p>
        </p:txBody>
      </p:sp>
      <p:sp>
        <p:nvSpPr>
          <p:cNvPr id="29" name="add">
            <a:extLst xmlns:a="http://schemas.openxmlformats.org/drawingml/2006/main">
              <a:ext uri="{FF2B5EF4-FFF2-40B4-BE49-F238E27FC236}">
                <a16:creationId xmlns:a16="http://schemas.microsoft.com/office/drawing/2014/main" id="{55FF813B-1F58-4C67-8F37-1B6B035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条件付き追加：Invoice Lines API取得 8～16時間</a:t>
            </a:r>
          </a:p>
        </p:txBody>
      </p:sp>
    </p:spTree>
    <p:extLst>
      <p:ext uri="{BB962C8B-B14F-4D97-AF65-F5344CB8AC3E}">
        <p14:creationId xmlns:p14="http://schemas.microsoft.com/office/powerpoint/2010/main" val="1402636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D9A9B516-1D1F-4B6B-9AE0-A8AB2671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承認前に確認するのは3点。問題があれば実装前に止めます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09A5BFB-7E09-4354-924B-DDB92229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7C49A8EC-1910-42BB-8B84-BC209B08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高リスク項目はSandboxで確認し、方式変更・追加費用は事前承認制とします。</a:t>
            </a:r>
          </a:p>
        </p:txBody>
      </p:sp>
      <p:sp>
        <p:nvSpPr>
          <p:cNvPr id="4" name="risk-0">
            <a:extLst xmlns:a="http://schemas.openxmlformats.org/drawingml/2006/main">
              <a:ext uri="{FF2B5EF4-FFF2-40B4-BE49-F238E27FC236}">
                <a16:creationId xmlns:a16="http://schemas.microsoft.com/office/drawing/2014/main" id="{60C26672-0FC1-4BEF-976A-A8ADA03C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0801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iskno-0">
            <a:extLst xmlns:a="http://schemas.openxmlformats.org/drawingml/2006/main">
              <a:ext uri="{FF2B5EF4-FFF2-40B4-BE49-F238E27FC236}">
                <a16:creationId xmlns:a16="http://schemas.microsoft.com/office/drawing/2014/main" id="{DCE2B2AA-F40D-43B9-BF57-484006C3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iskh-0">
            <a:extLst xmlns:a="http://schemas.openxmlformats.org/drawingml/2006/main">
              <a:ext uri="{FF2B5EF4-FFF2-40B4-BE49-F238E27FC236}">
                <a16:creationId xmlns:a16="http://schemas.microsoft.com/office/drawing/2014/main" id="{37A05E68-8024-4553-B951-74F4313B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85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複雑な請求明細</a:t>
            </a:r>
          </a:p>
        </p:txBody>
      </p:sp>
      <p:sp>
        <p:nvSpPr>
          <p:cNvPr id="7" name="riskq-0">
            <a:extLst xmlns:a="http://schemas.openxmlformats.org/drawingml/2006/main">
              <a:ext uri="{FF2B5EF4-FFF2-40B4-BE49-F238E27FC236}">
                <a16:creationId xmlns:a16="http://schemas.microsoft.com/office/drawing/2014/main" id="{225D48A1-180A-4DFB-AC8A-8AF17F90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859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割引・日割り・返金等がCSVで再現できるか</a:t>
            </a:r>
          </a:p>
        </p:txBody>
      </p:sp>
      <p:sp>
        <p:nvSpPr>
          <p:cNvPr id="8" name="riska-0">
            <a:extLst xmlns:a="http://schemas.openxmlformats.org/drawingml/2006/main">
              <a:ext uri="{FF2B5EF4-FFF2-40B4-BE49-F238E27FC236}">
                <a16:creationId xmlns:a16="http://schemas.microsoft.com/office/drawing/2014/main" id="{98C0C753-06AE-4AAC-B0BF-AE45C7E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859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例外が多い場合のみAPI追加</a:t>
            </a:r>
          </a:p>
        </p:txBody>
      </p:sp>
      <p:sp>
        <p:nvSpPr>
          <p:cNvPr id="9" name="risk-1">
            <a:extLst xmlns:a="http://schemas.openxmlformats.org/drawingml/2006/main">
              <a:ext uri="{FF2B5EF4-FFF2-40B4-BE49-F238E27FC236}">
                <a16:creationId xmlns:a16="http://schemas.microsoft.com/office/drawing/2014/main" id="{0958FAC8-C009-4A51-81BB-3C1E049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57525"/>
            <a:ext cx="10801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iskno-1">
            <a:extLst xmlns:a="http://schemas.openxmlformats.org/drawingml/2006/main">
              <a:ext uri="{FF2B5EF4-FFF2-40B4-BE49-F238E27FC236}">
                <a16:creationId xmlns:a16="http://schemas.microsoft.com/office/drawing/2014/main" id="{0342B672-1975-480D-BE0A-D81570F8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iskh-1">
            <a:extLst xmlns:a="http://schemas.openxmlformats.org/drawingml/2006/main">
              <a:ext uri="{FF2B5EF4-FFF2-40B4-BE49-F238E27FC236}">
                <a16:creationId xmlns:a16="http://schemas.microsoft.com/office/drawing/2014/main" id="{68683DBE-5D6B-4B49-BD14-FFAF6BD5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請求だけでMRR管理</a:t>
            </a:r>
          </a:p>
        </p:txBody>
      </p:sp>
      <p:sp>
        <p:nvSpPr>
          <p:cNvPr id="12" name="riskq-1">
            <a:extLst xmlns:a="http://schemas.openxmlformats.org/drawingml/2006/main">
              <a:ext uri="{FF2B5EF4-FFF2-40B4-BE49-F238E27FC236}">
                <a16:creationId xmlns:a16="http://schemas.microsoft.com/office/drawing/2014/main" id="{5C133984-0CFC-4DE8-BF1B-2D806B8B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908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既存MRRと対象月の集計が一致するか</a:t>
            </a:r>
          </a:p>
        </p:txBody>
      </p:sp>
      <p:sp>
        <p:nvSpPr>
          <p:cNvPr id="13" name="riska-1">
            <a:extLst xmlns:a="http://schemas.openxmlformats.org/drawingml/2006/main">
              <a:ext uri="{FF2B5EF4-FFF2-40B4-BE49-F238E27FC236}">
                <a16:creationId xmlns:a16="http://schemas.microsoft.com/office/drawing/2014/main" id="{6AFCB1C5-CDA3-4770-ACC8-485EA3EE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不一致なら月次明細を追加</a:t>
            </a:r>
          </a:p>
        </p:txBody>
      </p:sp>
      <p:sp>
        <p:nvSpPr>
          <p:cNvPr id="14" name="risk-2">
            <a:extLst xmlns:a="http://schemas.openxmlformats.org/drawingml/2006/main">
              <a:ext uri="{FF2B5EF4-FFF2-40B4-BE49-F238E27FC236}">
                <a16:creationId xmlns:a16="http://schemas.microsoft.com/office/drawing/2014/main" id="{077D0B1C-FAB0-454A-83A3-752255A0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62425"/>
            <a:ext cx="10801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iskno-2">
            <a:extLst xmlns:a="http://schemas.openxmlformats.org/drawingml/2006/main">
              <a:ext uri="{FF2B5EF4-FFF2-40B4-BE49-F238E27FC236}">
                <a16:creationId xmlns:a16="http://schemas.microsoft.com/office/drawing/2014/main" id="{BBC4970E-010D-49AF-BA48-DC2845C2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iskh-2">
            <a:extLst xmlns:a="http://schemas.openxmlformats.org/drawingml/2006/main">
              <a:ext uri="{FF2B5EF4-FFF2-40B4-BE49-F238E27FC236}">
                <a16:creationId xmlns:a16="http://schemas.microsoft.com/office/drawing/2014/main" id="{494C4FF0-FE7B-4790-B8DE-E09D1CB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既存Freee処理の除外</a:t>
            </a:r>
          </a:p>
        </p:txBody>
      </p:sp>
      <p:sp>
        <p:nvSpPr>
          <p:cNvPr id="17" name="riskq-2">
            <a:extLst xmlns:a="http://schemas.openxmlformats.org/drawingml/2006/main">
              <a:ext uri="{FF2B5EF4-FFF2-40B4-BE49-F238E27FC236}">
                <a16:creationId xmlns:a16="http://schemas.microsoft.com/office/drawing/2014/main" id="{14BF1E22-9E71-40C3-9871-4F1C8BAA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957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Stripe契約を既存自動化から除外できるか</a:t>
            </a:r>
          </a:p>
        </p:txBody>
      </p:sp>
      <p:sp>
        <p:nvSpPr>
          <p:cNvPr id="18" name="riska-2">
            <a:extLst xmlns:a="http://schemas.openxmlformats.org/drawingml/2006/main">
              <a:ext uri="{FF2B5EF4-FFF2-40B4-BE49-F238E27FC236}">
                <a16:creationId xmlns:a16="http://schemas.microsoft.com/office/drawing/2014/main" id="{024E943B-769E-4871-89B4-180D524F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957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改修が必要なら別途見積り</a:t>
            </a:r>
          </a:p>
        </p:txBody>
      </p:sp>
      <p:sp>
        <p:nvSpPr>
          <p:cNvPr id="19" name="askbar">
            <a:extLst xmlns:a="http://schemas.openxmlformats.org/drawingml/2006/main">
              <a:ext uri="{FF2B5EF4-FFF2-40B4-BE49-F238E27FC236}">
                <a16:creationId xmlns:a16="http://schemas.microsoft.com/office/drawing/2014/main" id="{F942E3B1-39E4-4B8D-8E68-4922820A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0801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sk">
            <a:extLst xmlns:a="http://schemas.openxmlformats.org/drawingml/2006/main">
              <a:ext uri="{FF2B5EF4-FFF2-40B4-BE49-F238E27FC236}">
                <a16:creationId xmlns:a16="http://schemas.microsoft.com/office/drawing/2014/main" id="{7CE65E8A-231F-44DC-BDC2-34849BF8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86425"/>
            <a:ext cx="1042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ご承認事項：154,000円（税込）・8/24～9/30で、検証付きの初期導入に着手</a:t>
            </a:r>
          </a:p>
        </p:txBody>
      </p:sp>
    </p:spTree>
    <p:extLst>
      <p:ext uri="{BB962C8B-B14F-4D97-AF65-F5344CB8AC3E}">
        <p14:creationId xmlns:p14="http://schemas.microsoft.com/office/powerpoint/2010/main" val="1807659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2026-08-20T07:50:29.6920000Z</dcterms:created>
  <dcterms:modified xsi:type="dcterms:W3CDTF">2026-08-20T07:50:29.6930000Z</dcterms:modified>
</coreProperties>
</file>